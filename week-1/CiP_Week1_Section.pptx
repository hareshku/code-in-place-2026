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020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A09A30-700C-46A1-BD4F-52E82BE09975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92B588C-62CB-4922-9F9E-16FB6C0C862E}">
      <dgm:prSet/>
      <dgm:spPr/>
      <dgm:t>
        <a:bodyPr/>
        <a:lstStyle/>
        <a:p>
          <a:r>
            <a:rPr lang="en-US"/>
            <a:t>1.  Karel starts facing east at (1, 1) with an infinite number of beepers in its beeper bag.</a:t>
          </a:r>
        </a:p>
      </dgm:t>
    </dgm:pt>
    <dgm:pt modelId="{A68A585B-BC50-4321-94BA-1F47393285B8}" type="parTrans" cxnId="{4BDBB5CF-5F10-47A8-918F-EB781F83507B}">
      <dgm:prSet/>
      <dgm:spPr/>
      <dgm:t>
        <a:bodyPr/>
        <a:lstStyle/>
        <a:p>
          <a:endParaRPr lang="en-US"/>
        </a:p>
      </dgm:t>
    </dgm:pt>
    <dgm:pt modelId="{4767EFE7-D2CC-4F28-93B8-A5A25EF53748}" type="sibTrans" cxnId="{4BDBB5CF-5F10-47A8-918F-EB781F83507B}">
      <dgm:prSet/>
      <dgm:spPr/>
      <dgm:t>
        <a:bodyPr/>
        <a:lstStyle/>
        <a:p>
          <a:endParaRPr lang="en-US"/>
        </a:p>
      </dgm:t>
    </dgm:pt>
    <dgm:pt modelId="{A3914575-2CAA-4942-B2D0-5BA73EDEEC1E}">
      <dgm:prSet/>
      <dgm:spPr/>
      <dgm:t>
        <a:bodyPr/>
        <a:lstStyle/>
        <a:p>
          <a:r>
            <a:rPr lang="en-US"/>
            <a:t>2. The beepers indicating the positions at which hospitals should be built will be spaced so that there is room to build the hospitals without overlapping or hitting walls.</a:t>
          </a:r>
        </a:p>
      </dgm:t>
    </dgm:pt>
    <dgm:pt modelId="{C4DFF859-11FD-45BD-A517-8B29C844BC17}" type="parTrans" cxnId="{B98CC058-6F53-40B3-996F-B396AB2B9956}">
      <dgm:prSet/>
      <dgm:spPr/>
      <dgm:t>
        <a:bodyPr/>
        <a:lstStyle/>
        <a:p>
          <a:endParaRPr lang="en-US"/>
        </a:p>
      </dgm:t>
    </dgm:pt>
    <dgm:pt modelId="{C8A4A617-C9DB-4DFB-9369-09E2D6F822F7}" type="sibTrans" cxnId="{B98CC058-6F53-40B3-996F-B396AB2B9956}">
      <dgm:prSet/>
      <dgm:spPr/>
      <dgm:t>
        <a:bodyPr/>
        <a:lstStyle/>
        <a:p>
          <a:endParaRPr lang="en-US"/>
        </a:p>
      </dgm:t>
    </dgm:pt>
    <dgm:pt modelId="{E4B82E2A-4AFD-41CE-9B61-729A344349AD}">
      <dgm:prSet/>
      <dgm:spPr/>
      <dgm:t>
        <a:bodyPr/>
        <a:lstStyle/>
        <a:p>
          <a:r>
            <a:rPr lang="en-US"/>
            <a:t>3. There will be no supplies left on the last column.</a:t>
          </a:r>
        </a:p>
      </dgm:t>
    </dgm:pt>
    <dgm:pt modelId="{9461C4F1-7FA5-43E3-BDE7-F9D1741723B8}" type="parTrans" cxnId="{180ED62B-830E-4CC8-BD2D-1F14F9A56E73}">
      <dgm:prSet/>
      <dgm:spPr/>
      <dgm:t>
        <a:bodyPr/>
        <a:lstStyle/>
        <a:p>
          <a:endParaRPr lang="en-US"/>
        </a:p>
      </dgm:t>
    </dgm:pt>
    <dgm:pt modelId="{6DE087CA-62ED-48BF-BE29-77CBB823230A}" type="sibTrans" cxnId="{180ED62B-830E-4CC8-BD2D-1F14F9A56E73}">
      <dgm:prSet/>
      <dgm:spPr/>
      <dgm:t>
        <a:bodyPr/>
        <a:lstStyle/>
        <a:p>
          <a:endParaRPr lang="en-US"/>
        </a:p>
      </dgm:t>
    </dgm:pt>
    <dgm:pt modelId="{837CD875-35FD-41E3-B633-AC8CD91B2699}">
      <dgm:prSet/>
      <dgm:spPr/>
      <dgm:t>
        <a:bodyPr/>
        <a:lstStyle/>
        <a:p>
          <a:r>
            <a:rPr lang="en-US"/>
            <a:t>4. Karel should not run into a wall if it builds a hospital that extends into that final corner.</a:t>
          </a:r>
        </a:p>
      </dgm:t>
    </dgm:pt>
    <dgm:pt modelId="{9DBD63D6-A546-4DAD-9E81-EBFA02FEAC3A}" type="parTrans" cxnId="{39E06CCD-D82B-45C5-96F6-3E245EA5B61C}">
      <dgm:prSet/>
      <dgm:spPr/>
      <dgm:t>
        <a:bodyPr/>
        <a:lstStyle/>
        <a:p>
          <a:endParaRPr lang="en-US"/>
        </a:p>
      </dgm:t>
    </dgm:pt>
    <dgm:pt modelId="{F273D13A-7644-4D40-A0D6-B9F6176BC21E}" type="sibTrans" cxnId="{39E06CCD-D82B-45C5-96F6-3E245EA5B61C}">
      <dgm:prSet/>
      <dgm:spPr/>
      <dgm:t>
        <a:bodyPr/>
        <a:lstStyle/>
        <a:p>
          <a:endParaRPr lang="en-US"/>
        </a:p>
      </dgm:t>
    </dgm:pt>
    <dgm:pt modelId="{D4463ABA-514C-462D-AC2A-E7BF43FB4E64}" type="pres">
      <dgm:prSet presAssocID="{9CA09A30-700C-46A1-BD4F-52E82BE09975}" presName="diagram" presStyleCnt="0">
        <dgm:presLayoutVars>
          <dgm:dir/>
          <dgm:resizeHandles val="exact"/>
        </dgm:presLayoutVars>
      </dgm:prSet>
      <dgm:spPr/>
    </dgm:pt>
    <dgm:pt modelId="{A9D12E8D-6F3E-41CF-A322-17BFD38CC9F8}" type="pres">
      <dgm:prSet presAssocID="{D92B588C-62CB-4922-9F9E-16FB6C0C862E}" presName="node" presStyleLbl="node1" presStyleIdx="0" presStyleCnt="4">
        <dgm:presLayoutVars>
          <dgm:bulletEnabled val="1"/>
        </dgm:presLayoutVars>
      </dgm:prSet>
      <dgm:spPr/>
    </dgm:pt>
    <dgm:pt modelId="{A4C4AB45-A778-475A-9DD0-C351BD445914}" type="pres">
      <dgm:prSet presAssocID="{4767EFE7-D2CC-4F28-93B8-A5A25EF53748}" presName="sibTrans" presStyleLbl="sibTrans2D1" presStyleIdx="0" presStyleCnt="3"/>
      <dgm:spPr/>
    </dgm:pt>
    <dgm:pt modelId="{9363143F-E0EE-4922-A1F2-124CF60481D8}" type="pres">
      <dgm:prSet presAssocID="{4767EFE7-D2CC-4F28-93B8-A5A25EF53748}" presName="connectorText" presStyleLbl="sibTrans2D1" presStyleIdx="0" presStyleCnt="3"/>
      <dgm:spPr/>
    </dgm:pt>
    <dgm:pt modelId="{82AD328D-214E-41F1-97BC-516FD06A2BDA}" type="pres">
      <dgm:prSet presAssocID="{A3914575-2CAA-4942-B2D0-5BA73EDEEC1E}" presName="node" presStyleLbl="node1" presStyleIdx="1" presStyleCnt="4">
        <dgm:presLayoutVars>
          <dgm:bulletEnabled val="1"/>
        </dgm:presLayoutVars>
      </dgm:prSet>
      <dgm:spPr/>
    </dgm:pt>
    <dgm:pt modelId="{3473CF1C-F224-42DF-AAF3-F6E95CBF938D}" type="pres">
      <dgm:prSet presAssocID="{C8A4A617-C9DB-4DFB-9369-09E2D6F822F7}" presName="sibTrans" presStyleLbl="sibTrans2D1" presStyleIdx="1" presStyleCnt="3"/>
      <dgm:spPr/>
    </dgm:pt>
    <dgm:pt modelId="{33E0D1D9-6ACD-4C12-9D2E-EC6A0F4FCDF4}" type="pres">
      <dgm:prSet presAssocID="{C8A4A617-C9DB-4DFB-9369-09E2D6F822F7}" presName="connectorText" presStyleLbl="sibTrans2D1" presStyleIdx="1" presStyleCnt="3"/>
      <dgm:spPr/>
    </dgm:pt>
    <dgm:pt modelId="{E8F3315D-6098-4958-8084-3D282E658DBE}" type="pres">
      <dgm:prSet presAssocID="{E4B82E2A-4AFD-41CE-9B61-729A344349AD}" presName="node" presStyleLbl="node1" presStyleIdx="2" presStyleCnt="4">
        <dgm:presLayoutVars>
          <dgm:bulletEnabled val="1"/>
        </dgm:presLayoutVars>
      </dgm:prSet>
      <dgm:spPr/>
    </dgm:pt>
    <dgm:pt modelId="{913E4A48-A72B-4CA4-A32B-32A47D842C47}" type="pres">
      <dgm:prSet presAssocID="{6DE087CA-62ED-48BF-BE29-77CBB823230A}" presName="sibTrans" presStyleLbl="sibTrans2D1" presStyleIdx="2" presStyleCnt="3"/>
      <dgm:spPr/>
    </dgm:pt>
    <dgm:pt modelId="{E85A476C-764B-48F6-B5EA-392432972AB9}" type="pres">
      <dgm:prSet presAssocID="{6DE087CA-62ED-48BF-BE29-77CBB823230A}" presName="connectorText" presStyleLbl="sibTrans2D1" presStyleIdx="2" presStyleCnt="3"/>
      <dgm:spPr/>
    </dgm:pt>
    <dgm:pt modelId="{6AF61DFD-4807-4D36-AA40-3373C6D8B754}" type="pres">
      <dgm:prSet presAssocID="{837CD875-35FD-41E3-B633-AC8CD91B2699}" presName="node" presStyleLbl="node1" presStyleIdx="3" presStyleCnt="4">
        <dgm:presLayoutVars>
          <dgm:bulletEnabled val="1"/>
        </dgm:presLayoutVars>
      </dgm:prSet>
      <dgm:spPr/>
    </dgm:pt>
  </dgm:ptLst>
  <dgm:cxnLst>
    <dgm:cxn modelId="{66FA2803-F1E9-47DA-98A9-03039344406C}" type="presOf" srcId="{E4B82E2A-4AFD-41CE-9B61-729A344349AD}" destId="{E8F3315D-6098-4958-8084-3D282E658DBE}" srcOrd="0" destOrd="0" presId="urn:microsoft.com/office/officeart/2005/8/layout/process5"/>
    <dgm:cxn modelId="{180ED62B-830E-4CC8-BD2D-1F14F9A56E73}" srcId="{9CA09A30-700C-46A1-BD4F-52E82BE09975}" destId="{E4B82E2A-4AFD-41CE-9B61-729A344349AD}" srcOrd="2" destOrd="0" parTransId="{9461C4F1-7FA5-43E3-BDE7-F9D1741723B8}" sibTransId="{6DE087CA-62ED-48BF-BE29-77CBB823230A}"/>
    <dgm:cxn modelId="{6AF82B66-4F1E-41B0-8D40-B3B582103231}" type="presOf" srcId="{C8A4A617-C9DB-4DFB-9369-09E2D6F822F7}" destId="{33E0D1D9-6ACD-4C12-9D2E-EC6A0F4FCDF4}" srcOrd="1" destOrd="0" presId="urn:microsoft.com/office/officeart/2005/8/layout/process5"/>
    <dgm:cxn modelId="{57CA776B-3ABD-401C-8EA3-BBCC59CD134D}" type="presOf" srcId="{9CA09A30-700C-46A1-BD4F-52E82BE09975}" destId="{D4463ABA-514C-462D-AC2A-E7BF43FB4E64}" srcOrd="0" destOrd="0" presId="urn:microsoft.com/office/officeart/2005/8/layout/process5"/>
    <dgm:cxn modelId="{4C5A5752-F38E-4D10-9480-5A72116BB80F}" type="presOf" srcId="{4767EFE7-D2CC-4F28-93B8-A5A25EF53748}" destId="{9363143F-E0EE-4922-A1F2-124CF60481D8}" srcOrd="1" destOrd="0" presId="urn:microsoft.com/office/officeart/2005/8/layout/process5"/>
    <dgm:cxn modelId="{42CCE575-3869-4B18-AB8E-842318E71C45}" type="presOf" srcId="{4767EFE7-D2CC-4F28-93B8-A5A25EF53748}" destId="{A4C4AB45-A778-475A-9DD0-C351BD445914}" srcOrd="0" destOrd="0" presId="urn:microsoft.com/office/officeart/2005/8/layout/process5"/>
    <dgm:cxn modelId="{B98CC058-6F53-40B3-996F-B396AB2B9956}" srcId="{9CA09A30-700C-46A1-BD4F-52E82BE09975}" destId="{A3914575-2CAA-4942-B2D0-5BA73EDEEC1E}" srcOrd="1" destOrd="0" parTransId="{C4DFF859-11FD-45BD-A517-8B29C844BC17}" sibTransId="{C8A4A617-C9DB-4DFB-9369-09E2D6F822F7}"/>
    <dgm:cxn modelId="{CFC2C084-DCFD-408B-8C05-AD352384E272}" type="presOf" srcId="{D92B588C-62CB-4922-9F9E-16FB6C0C862E}" destId="{A9D12E8D-6F3E-41CF-A322-17BFD38CC9F8}" srcOrd="0" destOrd="0" presId="urn:microsoft.com/office/officeart/2005/8/layout/process5"/>
    <dgm:cxn modelId="{656DDCB4-3226-40BC-B435-2A5DB09EDF32}" type="presOf" srcId="{C8A4A617-C9DB-4DFB-9369-09E2D6F822F7}" destId="{3473CF1C-F224-42DF-AAF3-F6E95CBF938D}" srcOrd="0" destOrd="0" presId="urn:microsoft.com/office/officeart/2005/8/layout/process5"/>
    <dgm:cxn modelId="{39E06CCD-D82B-45C5-96F6-3E245EA5B61C}" srcId="{9CA09A30-700C-46A1-BD4F-52E82BE09975}" destId="{837CD875-35FD-41E3-B633-AC8CD91B2699}" srcOrd="3" destOrd="0" parTransId="{9DBD63D6-A546-4DAD-9E81-EBFA02FEAC3A}" sibTransId="{F273D13A-7644-4D40-A0D6-B9F6176BC21E}"/>
    <dgm:cxn modelId="{583E93CE-D46B-4CCF-A795-8CC8F108278D}" type="presOf" srcId="{6DE087CA-62ED-48BF-BE29-77CBB823230A}" destId="{913E4A48-A72B-4CA4-A32B-32A47D842C47}" srcOrd="0" destOrd="0" presId="urn:microsoft.com/office/officeart/2005/8/layout/process5"/>
    <dgm:cxn modelId="{4BDBB5CF-5F10-47A8-918F-EB781F83507B}" srcId="{9CA09A30-700C-46A1-BD4F-52E82BE09975}" destId="{D92B588C-62CB-4922-9F9E-16FB6C0C862E}" srcOrd="0" destOrd="0" parTransId="{A68A585B-BC50-4321-94BA-1F47393285B8}" sibTransId="{4767EFE7-D2CC-4F28-93B8-A5A25EF53748}"/>
    <dgm:cxn modelId="{300271D7-F263-4C17-A6BF-64711C7CCCF3}" type="presOf" srcId="{837CD875-35FD-41E3-B633-AC8CD91B2699}" destId="{6AF61DFD-4807-4D36-AA40-3373C6D8B754}" srcOrd="0" destOrd="0" presId="urn:microsoft.com/office/officeart/2005/8/layout/process5"/>
    <dgm:cxn modelId="{8EC37CF7-96A2-402D-B043-DA710F2FED9E}" type="presOf" srcId="{6DE087CA-62ED-48BF-BE29-77CBB823230A}" destId="{E85A476C-764B-48F6-B5EA-392432972AB9}" srcOrd="1" destOrd="0" presId="urn:microsoft.com/office/officeart/2005/8/layout/process5"/>
    <dgm:cxn modelId="{3480CFFE-E8E1-4AEA-B477-A40857EBEB9D}" type="presOf" srcId="{A3914575-2CAA-4942-B2D0-5BA73EDEEC1E}" destId="{82AD328D-214E-41F1-97BC-516FD06A2BDA}" srcOrd="0" destOrd="0" presId="urn:microsoft.com/office/officeart/2005/8/layout/process5"/>
    <dgm:cxn modelId="{DBD9B641-5187-42C0-B70B-E838D86E3465}" type="presParOf" srcId="{D4463ABA-514C-462D-AC2A-E7BF43FB4E64}" destId="{A9D12E8D-6F3E-41CF-A322-17BFD38CC9F8}" srcOrd="0" destOrd="0" presId="urn:microsoft.com/office/officeart/2005/8/layout/process5"/>
    <dgm:cxn modelId="{AAAF5F8A-F86C-4B41-AB27-6B95C870FE7C}" type="presParOf" srcId="{D4463ABA-514C-462D-AC2A-E7BF43FB4E64}" destId="{A4C4AB45-A778-475A-9DD0-C351BD445914}" srcOrd="1" destOrd="0" presId="urn:microsoft.com/office/officeart/2005/8/layout/process5"/>
    <dgm:cxn modelId="{66990810-D206-42D0-BDC0-DFD5DEC83755}" type="presParOf" srcId="{A4C4AB45-A778-475A-9DD0-C351BD445914}" destId="{9363143F-E0EE-4922-A1F2-124CF60481D8}" srcOrd="0" destOrd="0" presId="urn:microsoft.com/office/officeart/2005/8/layout/process5"/>
    <dgm:cxn modelId="{AB45BD15-4D4F-4AE0-8D68-E188C3C9A43B}" type="presParOf" srcId="{D4463ABA-514C-462D-AC2A-E7BF43FB4E64}" destId="{82AD328D-214E-41F1-97BC-516FD06A2BDA}" srcOrd="2" destOrd="0" presId="urn:microsoft.com/office/officeart/2005/8/layout/process5"/>
    <dgm:cxn modelId="{934C4525-F9D4-4619-9C72-14772E44CB51}" type="presParOf" srcId="{D4463ABA-514C-462D-AC2A-E7BF43FB4E64}" destId="{3473CF1C-F224-42DF-AAF3-F6E95CBF938D}" srcOrd="3" destOrd="0" presId="urn:microsoft.com/office/officeart/2005/8/layout/process5"/>
    <dgm:cxn modelId="{89D57A2D-ACAC-45F5-AD86-E793763E8F0B}" type="presParOf" srcId="{3473CF1C-F224-42DF-AAF3-F6E95CBF938D}" destId="{33E0D1D9-6ACD-4C12-9D2E-EC6A0F4FCDF4}" srcOrd="0" destOrd="0" presId="urn:microsoft.com/office/officeart/2005/8/layout/process5"/>
    <dgm:cxn modelId="{250F521E-A695-481D-B0CC-75529CE77677}" type="presParOf" srcId="{D4463ABA-514C-462D-AC2A-E7BF43FB4E64}" destId="{E8F3315D-6098-4958-8084-3D282E658DBE}" srcOrd="4" destOrd="0" presId="urn:microsoft.com/office/officeart/2005/8/layout/process5"/>
    <dgm:cxn modelId="{99667C68-4D36-4C0C-99A6-BEFD7EE94691}" type="presParOf" srcId="{D4463ABA-514C-462D-AC2A-E7BF43FB4E64}" destId="{913E4A48-A72B-4CA4-A32B-32A47D842C47}" srcOrd="5" destOrd="0" presId="urn:microsoft.com/office/officeart/2005/8/layout/process5"/>
    <dgm:cxn modelId="{D3A2644C-34D7-4C5E-815B-E16810EB689D}" type="presParOf" srcId="{913E4A48-A72B-4CA4-A32B-32A47D842C47}" destId="{E85A476C-764B-48F6-B5EA-392432972AB9}" srcOrd="0" destOrd="0" presId="urn:microsoft.com/office/officeart/2005/8/layout/process5"/>
    <dgm:cxn modelId="{1F97D550-580C-4382-BC18-701B6E8485D3}" type="presParOf" srcId="{D4463ABA-514C-462D-AC2A-E7BF43FB4E64}" destId="{6AF61DFD-4807-4D36-AA40-3373C6D8B754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4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D12E8D-6F3E-41CF-A322-17BFD38CC9F8}">
      <dsp:nvSpPr>
        <dsp:cNvPr id="0" name=""/>
        <dsp:cNvSpPr/>
      </dsp:nvSpPr>
      <dsp:spPr>
        <a:xfrm>
          <a:off x="3914" y="286794"/>
          <a:ext cx="1711366" cy="10268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1.  Karel starts facing east at (1, 1) with an infinite number of beepers in its beeper bag.</a:t>
          </a:r>
        </a:p>
      </dsp:txBody>
      <dsp:txXfrm>
        <a:off x="33989" y="316869"/>
        <a:ext cx="1651216" cy="966669"/>
      </dsp:txXfrm>
    </dsp:sp>
    <dsp:sp modelId="{A4C4AB45-A778-475A-9DD0-C351BD445914}">
      <dsp:nvSpPr>
        <dsp:cNvPr id="0" name=""/>
        <dsp:cNvSpPr/>
      </dsp:nvSpPr>
      <dsp:spPr>
        <a:xfrm>
          <a:off x="1865880" y="587994"/>
          <a:ext cx="362809" cy="42441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1865880" y="672878"/>
        <a:ext cx="253966" cy="254650"/>
      </dsp:txXfrm>
    </dsp:sp>
    <dsp:sp modelId="{82AD328D-214E-41F1-97BC-516FD06A2BDA}">
      <dsp:nvSpPr>
        <dsp:cNvPr id="0" name=""/>
        <dsp:cNvSpPr/>
      </dsp:nvSpPr>
      <dsp:spPr>
        <a:xfrm>
          <a:off x="2399826" y="286794"/>
          <a:ext cx="1711366" cy="10268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2. The beepers indicating the positions at which hospitals should be built will be spaced so that there is room to build the hospitals without overlapping or hitting walls.</a:t>
          </a:r>
        </a:p>
      </dsp:txBody>
      <dsp:txXfrm>
        <a:off x="2429901" y="316869"/>
        <a:ext cx="1651216" cy="966669"/>
      </dsp:txXfrm>
    </dsp:sp>
    <dsp:sp modelId="{3473CF1C-F224-42DF-AAF3-F6E95CBF938D}">
      <dsp:nvSpPr>
        <dsp:cNvPr id="0" name=""/>
        <dsp:cNvSpPr/>
      </dsp:nvSpPr>
      <dsp:spPr>
        <a:xfrm>
          <a:off x="4261793" y="587994"/>
          <a:ext cx="362809" cy="42441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4261793" y="672878"/>
        <a:ext cx="253966" cy="254650"/>
      </dsp:txXfrm>
    </dsp:sp>
    <dsp:sp modelId="{E8F3315D-6098-4958-8084-3D282E658DBE}">
      <dsp:nvSpPr>
        <dsp:cNvPr id="0" name=""/>
        <dsp:cNvSpPr/>
      </dsp:nvSpPr>
      <dsp:spPr>
        <a:xfrm>
          <a:off x="4795739" y="286794"/>
          <a:ext cx="1711366" cy="10268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3. There will be no supplies left on the last column.</a:t>
          </a:r>
        </a:p>
      </dsp:txBody>
      <dsp:txXfrm>
        <a:off x="4825814" y="316869"/>
        <a:ext cx="1651216" cy="966669"/>
      </dsp:txXfrm>
    </dsp:sp>
    <dsp:sp modelId="{913E4A48-A72B-4CA4-A32B-32A47D842C47}">
      <dsp:nvSpPr>
        <dsp:cNvPr id="0" name=""/>
        <dsp:cNvSpPr/>
      </dsp:nvSpPr>
      <dsp:spPr>
        <a:xfrm>
          <a:off x="6657706" y="587994"/>
          <a:ext cx="362809" cy="42441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6657706" y="672878"/>
        <a:ext cx="253966" cy="254650"/>
      </dsp:txXfrm>
    </dsp:sp>
    <dsp:sp modelId="{6AF61DFD-4807-4D36-AA40-3373C6D8B754}">
      <dsp:nvSpPr>
        <dsp:cNvPr id="0" name=""/>
        <dsp:cNvSpPr/>
      </dsp:nvSpPr>
      <dsp:spPr>
        <a:xfrm>
          <a:off x="7191652" y="286794"/>
          <a:ext cx="1711366" cy="10268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4. Karel should not run into a wall if it builds a hospital that extends into that final corner.</a:t>
          </a:r>
        </a:p>
      </dsp:txBody>
      <dsp:txXfrm>
        <a:off x="7221727" y="316869"/>
        <a:ext cx="1651216" cy="9666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09:06:35.54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1223 0 23619,'-1223'0'0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09:06:44.816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0 23596,'0'800'0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09:07:06.03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0 21389,'0'871'0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09:07:12.83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1105 0 21389,'-1105'0'0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09:07:14.24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0 23380,'71'728'0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09:07:16.25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 24575,'0'560'0,"1"-546"-227,-1-1-1,2 1 1,0 0-1,1-1 1,8 26-1,0-12-6598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09:07:18.23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94 9 24575,'-4'0'0,"-9"0"0,-11 0 0,-1-4 0,8-1 0,7 8 0,13 4 0,6 8 0,5 2 0,0 2 0,7 5 0,-2 8 0,-2 6 0,-6-4-8191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09:07:20.144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139 1 24575,'-8'0'0,"-11"0"0,-6 0 0,2 8 0,4 10 0,5 11 0,6 3 0,4 6 0,2 3 0,2-1 0,1 9 0,-9-4 0,-1-10-8191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09:07:41.47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 23619,'0'5176'0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09:07:49.28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1 418 24575,'0'-8'0,"0"-7"0,0-9 0,0-8 0,0-7 0,0 0 0,0-2 0,0-2 0,0-6 0,0-2 0,8 7 0,3 11-8191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09:08:01.03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 24245,'0'5599'0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09:08:05.622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26 24575,'51'0'0,"9"1"0,96-12 0,-52 1-436,152 5 0,-231 5-57,9 0-6333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09:09:14.8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753 1 24367,'-752'1129'0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09:09:39.2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0 618 24575,'84'1'0,"96"-3"0,-172 2 0,-1-1 0,0 0 0,0 0 0,1-1 0,-1 0 0,0 0 0,0 0 0,-1-1 0,8-4 0,-12 6 0,0 0 0,-1 0 0,1-1 0,0 1 0,0-1 0,-1 1 0,1-1 0,-1 1 0,1-1 0,-1 0 0,0 1 0,0-1 0,0 0 0,0 0 0,0 0 0,0 0 0,0 0 0,-1 0 0,1-1 0,-1 1 0,1 0 0,-1 0 0,0 0 0,0 0 0,0-1 0,0 1 0,0 0 0,-1 0 0,1 0 0,-1 0 0,1 0 0,-1-1 0,0 1 0,-1-2 0,-2-4 0,0 1 0,-1 0 0,0 0 0,0 0 0,0 0 0,-1 1 0,-7-6 0,-48-37 0,55 45 0,-1 0 0,1 1 0,-1 0 0,0 0 0,-14-3 0,14 4 0,0-1 0,0 1 0,1-1 0,-13-6 0,19 9 0,0 0 0,0-1 0,0 1 0,0 0 0,-1 0 0,1 0 0,0-1 0,0 1 0,0 0 0,0 0 0,0 0 0,0-1 0,0 1 0,0 0 0,0 0 0,0 0 0,0-1 0,0 1 0,0 0 0,0 0 0,0 0 0,0-1 0,0 1 0,0 0 0,0 0 0,0-1 0,0 1 0,0 0 0,0 0 0,0 0 0,0-1 0,0 1 0,1 0 0,-1 0 0,0 0 0,0 0 0,0-1 0,0 1 0,0 0 0,1 0 0,11-11 0,16-5 0,15 1 0,-36 13 0,1 0 0,0-1 0,-1 0 0,0 0 0,1-1 0,11-7 0,-12 5 0,-1 0 0,0 0 0,0-1 0,0 1 0,-1-1 0,0 0 0,-1-1 0,1 1 0,-1-1 0,4-11 0,2-10 0,10-48 0,-13 46 0,-6 29 0,-1-1 0,1 1 0,-1-1 0,1 0 0,-1 1 0,0-1 0,0 0 0,0 1 0,-1-1 0,1 0 0,-1 1 0,1-1 0,-2-2 0,1 3 0,0 0 0,0 1 0,0-1 0,-1 0 0,1 1 0,0-1 0,-1 1 0,1 0 0,-1-1 0,0 1 0,1 0 0,-1 0 0,0 0 0,0 0 0,0 0 0,0 1 0,-3-2 0,-6-1 0,0 1 0,0 0 0,0 0 0,-1 1 0,1 1 0,0 0 0,-15 2 0,-1 1 0,-52 14 0,-9 19-1365,59-27-5461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09:09:55.0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48 235 24575,'-1'1'0,"1"-1"0,0 1 0,-1 0 0,1 0 0,-1 0 0,1-1 0,-1 1 0,1 0 0,-1 0 0,0-1 0,1 1 0,-1 0 0,0-1 0,1 1 0,-3 0 0,-5 6 0,5-1 0,0-1 0,-1 1 0,2 0 0,-1 0 0,1 1 0,0-1 0,0 0 0,1 1 0,-2 10 0,1 5 0,1 32 0,1-46 0,0 0 0,1 0 0,1 0 0,-1 0 0,1-1 0,0 1 0,1 0 0,6 12 0,-8-17 0,1 0 0,0 0 0,0 0 0,0-1 0,0 1 0,0 0 0,1-1 0,-1 1 0,1-1 0,0 0 0,0 0 0,-1 0 0,1 0 0,0-1 0,1 1 0,-1-1 0,0 0 0,0 0 0,1 0 0,-1 0 0,7 1 0,-8-2 0,-1 0 0,1 0 0,0 0 0,0-1 0,-1 1 0,1 0 0,0-1 0,-1 1 0,1-1 0,-1 1 0,1-1 0,0 0 0,-1 0 0,0 1 0,1-1 0,-1 0 0,1 0 0,1-3 0,-1 2 0,0-1 0,0 0 0,0 0 0,0 0 0,0 0 0,-1 0 0,0 0 0,2-7 0,0 1 0,-1-1 0,-1 1 0,0-1 0,0 0 0,-2-18 0,0 23 0,1 0 0,-1 0 0,0 0 0,-1-1 0,1 1 0,-1 0 0,0 1 0,-5-10 0,-1 3 0,0 1 0,-13-14 0,18 21 0,2 1 0,-1 1 0,0-1 0,1 0 0,-1 0 0,1 0 0,0 0 0,0-1 0,0 1 0,0 0 0,0 0 0,0-1 0,0 1 0,1 0 0,-1-1 0,1 1 0,0-1 0,0 1 0,0-1 0,0 1 0,0 0 0,0-1 0,0 1 0,1-1 0,0 1 0,-1 0 0,2-3 0,2-4 0,1 1 0,0 0 0,1 0 0,0 1 0,10-12 0,15-19 0,-20 19-341,0-1 0,-2 0-1,10-32 1,-8 17-6485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09:09:56.6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24575,'4'0'0,"10"0"0,5 0 0,9 0 0,6 0 0,7 0 0,-1 0 0,2 0 0,9 0 0,0 0 0,-1 0 0,0 0 0,-5 0 0,-3 0 0,-7 0-8191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09:09:58.1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24575,'9'0'0,"9"0"0,11 0 0,4 0 0,5 0 0,3 0 0,-1 0 0,9 0 0,4 0 0,-3 0 0,-2 0 0,-1 0 0,-5 0 0,-1 0 0,0 0 0,-7 0-8191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09:10:06.8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24575,'0'12'0,"0"8"0,0 9 0,0 7 0,0 6 0,4-5 0,1-4 0,0 0 0,-1 2 0,-2 0 0,0 9 0,-1 6 0,-1-6-8191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09:10:08.3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0 171 24575,'8'0'0,"7"-4"0,8-1 0,1-8 0,4-2 0,2 2 0,-5-1 0,1 2 0,5 3 0,5 3 0,-4-6 0,5 0 0,4 1 0,-5-5 0,-1 0 0,-6 3-8191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09:10:10.7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134 0 24575,'-8'0'0,"-11"0"0,-10 0 0,0 8 0,5 11 0,7 5 0,9 0 0,15-5 0,6-5-8191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8723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C7568-2CE2-9975-75D6-C59153DB6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73C338-424D-2DBD-A11A-E06FB38E2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A5F589-F0DC-5F4E-241F-E7DC8A873A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A3D20-EBF8-127A-0617-BC8506BC76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653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D349D-E182-49FD-9DAE-F9AB1D3C8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5B2411-56B4-BD5E-61CB-C06ED4499A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C4B287-B0C8-4EB3-63DE-FC4BDFD592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AB3EC-F591-46E5-1569-F28CB69401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845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305AD-042F-7E89-E8F9-206247240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5F2AD1-139E-7334-D5FC-5D5758142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B15072-3B8E-CDC6-16C3-70C278967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AA959-E6B0-C979-B87A-73525C489D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8331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0510F-5480-7603-00BB-D585904BD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76D3E9-221A-CC66-454C-A9E8C010E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2F01C2-E706-6F49-B0D5-A3EE77EBA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FB32C-816C-37B8-1009-1A48151386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120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84D52-9B86-15B2-B50C-07EFD988D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A7F52C-B26E-7FF4-6F22-CF8007B5B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60720D-F63E-8619-3037-02D330958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47346-8507-3728-98FB-B2679303DB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8014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6DACF-A3E2-4ADE-CB76-12D344F43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12EB88-1401-CCEC-C28B-C04D9CCA3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266883-6F81-2B78-22C3-C0724B6BA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A00B7-55A5-AB68-990E-D9A9E78EA4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0326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7BFAA-E333-E30D-B71A-20E482A47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B2AF8C-6E9B-93B2-3F6A-AA00C39557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3A99B9-43E3-7D8F-A350-E0416F3A2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98F30-D93B-B9EE-185C-DCBE8568E5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7821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54967-A81B-95A7-F4CF-052EB99EE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8C857C-C8BB-29E6-4FE8-7744070818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AB456-5687-8A65-4107-8A3380A32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3CD51-4B78-FD94-6860-DFFF058A2E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9600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CA832-A66D-0E73-79D5-18D5D6191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62FA0B-2EE2-CF12-6330-E116DB857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755F06-C0C8-421F-F1AC-C999542C2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40DF9F-054C-C01D-A150-B8A7756D1B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2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6.png"/><Relationship Id="rId21" Type="http://schemas.openxmlformats.org/officeDocument/2006/relationships/image" Target="../media/image17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diagramColors" Target="../diagrams/colors1.xm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6" Type="http://schemas.openxmlformats.org/officeDocument/2006/relationships/customXml" Target="../ink/ink7.xml"/><Relationship Id="rId29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12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5.png"/><Relationship Id="rId40" Type="http://schemas.openxmlformats.org/officeDocument/2006/relationships/customXml" Target="../ink/ink19.xml"/><Relationship Id="rId45" Type="http://schemas.openxmlformats.org/officeDocument/2006/relationships/diagramLayout" Target="../diagrams/layout1.xml"/><Relationship Id="rId5" Type="http://schemas.openxmlformats.org/officeDocument/2006/relationships/image" Target="../media/image9.png"/><Relationship Id="rId15" Type="http://schemas.openxmlformats.org/officeDocument/2006/relationships/image" Target="../media/image14.png"/><Relationship Id="rId23" Type="http://schemas.openxmlformats.org/officeDocument/2006/relationships/image" Target="../media/image18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10" Type="http://schemas.openxmlformats.org/officeDocument/2006/relationships/customXml" Target="../ink/ink4.xml"/><Relationship Id="rId19" Type="http://schemas.openxmlformats.org/officeDocument/2006/relationships/image" Target="../media/image16.png"/><Relationship Id="rId31" Type="http://schemas.openxmlformats.org/officeDocument/2006/relationships/image" Target="../media/image22.png"/><Relationship Id="rId44" Type="http://schemas.openxmlformats.org/officeDocument/2006/relationships/diagramData" Target="../diagrams/data1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20.png"/><Relationship Id="rId30" Type="http://schemas.openxmlformats.org/officeDocument/2006/relationships/customXml" Target="../ink/ink14.xml"/><Relationship Id="rId35" Type="http://schemas.openxmlformats.org/officeDocument/2006/relationships/image" Target="../media/image24.png"/><Relationship Id="rId43" Type="http://schemas.openxmlformats.org/officeDocument/2006/relationships/image" Target="../media/image28.png"/><Relationship Id="rId48" Type="http://schemas.microsoft.com/office/2007/relationships/diagramDrawing" Target="../diagrams/drawing1.xml"/><Relationship Id="rId8" Type="http://schemas.openxmlformats.org/officeDocument/2006/relationships/customXml" Target="../ink/ink3.xml"/><Relationship Id="rId3" Type="http://schemas.openxmlformats.org/officeDocument/2006/relationships/image" Target="../media/image3.png"/><Relationship Id="rId12" Type="http://schemas.openxmlformats.org/officeDocument/2006/relationships/customXml" Target="../ink/ink5.xml"/><Relationship Id="rId17" Type="http://schemas.openxmlformats.org/officeDocument/2006/relationships/image" Target="../media/image15.png"/><Relationship Id="rId25" Type="http://schemas.openxmlformats.org/officeDocument/2006/relationships/image" Target="../media/image19.png"/><Relationship Id="rId33" Type="http://schemas.openxmlformats.org/officeDocument/2006/relationships/image" Target="../media/image23.png"/><Relationship Id="rId38" Type="http://schemas.openxmlformats.org/officeDocument/2006/relationships/customXml" Target="../ink/ink18.xml"/><Relationship Id="rId46" Type="http://schemas.openxmlformats.org/officeDocument/2006/relationships/diagramQuickStyle" Target="../diagrams/quickStyle1.xml"/><Relationship Id="rId20" Type="http://schemas.openxmlformats.org/officeDocument/2006/relationships/customXml" Target="../ink/ink9.xml"/><Relationship Id="rId41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 w="12700">
            <a:solidFill>
              <a:srgbClr val="065A82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457200"/>
            <a:ext cx="2011680" cy="2011680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Welcome to Section!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•  Code in Place 2026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University  •  Section Leader Edition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446227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on · Questions welcome · Let's code together 🚀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Little About Me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943600" y="822960"/>
            <a:ext cx="2743200" cy="3474720"/>
          </a:xfrm>
          <a:prstGeom prst="rect">
            <a:avLst/>
          </a:prstGeom>
          <a:solidFill>
            <a:srgbClr val="EAF4FB"/>
          </a:solidFill>
          <a:ln w="254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0" y="16459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Photo Here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Name:  Haresh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9019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🌍 </a:t>
            </a: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   Pakistan  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752344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79806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🎓 </a:t>
            </a: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Software Engineering Graduate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59" y="3648456"/>
            <a:ext cx="5212081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694176"/>
            <a:ext cx="5184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Hobby / Fun Fact:  Teaching, helping, competing, and sport.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your Section Leader — let's learn together! 🎉</a:t>
            </a: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10BF677-1F0F-9C2E-E375-C71974B31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512" y="1303352"/>
            <a:ext cx="2605376" cy="26053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About You?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2560320"/>
          </a:xfrm>
          <a:prstGeom prst="rect">
            <a:avLst/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📛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2560320" cy="2560320"/>
          </a:xfrm>
          <a:prstGeom prst="rect">
            <a:avLst/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13716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🌐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91840" y="24688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you're tuning in from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234440"/>
            <a:ext cx="2560320" cy="2560320"/>
          </a:xfrm>
          <a:prstGeom prst="rect">
            <a:avLst/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13716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dirty="0"/>
              <a:t>❤️</a:t>
            </a:r>
          </a:p>
        </p:txBody>
      </p:sp>
      <p:sp>
        <p:nvSpPr>
          <p:cNvPr id="12" name="Text 10"/>
          <p:cNvSpPr/>
          <p:nvPr/>
        </p:nvSpPr>
        <p:spPr>
          <a:xfrm>
            <a:off x="6126480" y="24688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 object on your desk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8229600" cy="713232"/>
          </a:xfrm>
          <a:prstGeom prst="rect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0416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Shy? Drop your intro in the chat — I'll read it out for you. No pressure!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DB2F3-E4C1-E11A-1C30-851D72759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42CC2E9-F2DE-78C1-8270-9703993E574E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601F775-C89C-DC77-878C-0CCA3594F46D}"/>
              </a:ext>
            </a:extLst>
          </p:cNvPr>
          <p:cNvSpPr/>
          <p:nvPr/>
        </p:nvSpPr>
        <p:spPr>
          <a:xfrm>
            <a:off x="365760" y="104349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</a:rPr>
              <a:t>Week One Section</a:t>
            </a:r>
            <a:endParaRPr lang="en-US" sz="3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693D168-02E9-C06E-B89F-C9B2E4417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1" y="744429"/>
            <a:ext cx="8779932" cy="423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529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1">
            <a:extLst>
              <a:ext uri="{FF2B5EF4-FFF2-40B4-BE49-F238E27FC236}">
                <a16:creationId xmlns:a16="http://schemas.microsoft.com/office/drawing/2014/main" id="{82389E61-1738-5EE4-4B52-EAF8911BC56D}"/>
              </a:ext>
            </a:extLst>
          </p:cNvPr>
          <p:cNvSpPr/>
          <p:nvPr/>
        </p:nvSpPr>
        <p:spPr>
          <a:xfrm>
            <a:off x="365760" y="104349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dirty="0">
                <a:solidFill>
                  <a:schemeClr val="bg1"/>
                </a:solidFill>
              </a:rPr>
              <a:t>SECTION NORMS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79885E-2C27-F3FC-56A9-DEF55D5D8721}"/>
              </a:ext>
            </a:extLst>
          </p:cNvPr>
          <p:cNvSpPr txBox="1"/>
          <p:nvPr/>
        </p:nvSpPr>
        <p:spPr>
          <a:xfrm>
            <a:off x="365760" y="1227666"/>
            <a:ext cx="841417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Wait until your turn to speak, don't cut each other off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Raise hand if you want to speak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Be respectful and understanding towards each other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Show up and be willing to participate! Try our best to finish the work and respect each other's time.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421433DF-059B-0924-7DBB-B5347BE1C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Karel Overview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0" y="822960"/>
            <a:ext cx="3291840" cy="3291840"/>
          </a:xfrm>
          <a:prstGeom prst="rect">
            <a:avLst/>
          </a:prstGeom>
          <a:solidFill>
            <a:srgbClr val="EAF4FB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0" y="1645920"/>
            <a:ext cx="3291840" cy="0"/>
          </a:xfrm>
          <a:prstGeom prst="line">
            <a:avLst/>
          </a:prstGeom>
          <a:noFill/>
          <a:ln w="12700">
            <a:solidFill>
              <a:srgbClr val="C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309360" y="822960"/>
            <a:ext cx="0" cy="3291840"/>
          </a:xfrm>
          <a:prstGeom prst="line">
            <a:avLst/>
          </a:prstGeom>
          <a:noFill/>
          <a:ln w="12700">
            <a:solidFill>
              <a:srgbClr val="C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0" y="2468880"/>
            <a:ext cx="3291840" cy="0"/>
          </a:xfrm>
          <a:prstGeom prst="line">
            <a:avLst/>
          </a:prstGeom>
          <a:noFill/>
          <a:ln w="12700">
            <a:solidFill>
              <a:srgbClr val="C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132320" y="822960"/>
            <a:ext cx="0" cy="3291840"/>
          </a:xfrm>
          <a:prstGeom prst="line">
            <a:avLst/>
          </a:prstGeom>
          <a:noFill/>
          <a:ln w="12700">
            <a:solidFill>
              <a:srgbClr val="C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0" y="3291840"/>
            <a:ext cx="3291840" cy="0"/>
          </a:xfrm>
          <a:prstGeom prst="line">
            <a:avLst/>
          </a:prstGeom>
          <a:noFill/>
          <a:ln w="12700">
            <a:solidFill>
              <a:srgbClr val="C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955280" y="822960"/>
            <a:ext cx="0" cy="3291840"/>
          </a:xfrm>
          <a:prstGeom prst="line">
            <a:avLst/>
          </a:prstGeom>
          <a:noFill/>
          <a:ln w="12700">
            <a:solidFill>
              <a:srgbClr val="C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0" y="82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09360" y="82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⬆️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2C39A"/>
                </a:solidFill>
              </a:rPr>
              <a:t>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Karel's World</a:t>
            </a:r>
          </a:p>
        </p:txBody>
      </p:sp>
      <p:sp>
        <p:nvSpPr>
          <p:cNvPr id="15" name="Shape 13"/>
          <p:cNvSpPr/>
          <p:nvPr/>
        </p:nvSpPr>
        <p:spPr>
          <a:xfrm>
            <a:off x="365760" y="960120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960120"/>
            <a:ext cx="73152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10332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move()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1764792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1764792"/>
            <a:ext cx="73152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183794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turn_left()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5760" y="2569464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2569464"/>
            <a:ext cx="73152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264261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pick_beeper()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5760" y="3374136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374136"/>
            <a:ext cx="73152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4472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put_beeper()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65760" y="4206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Karel knows only these 4 commands — but with your code, it can do anything!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Functions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big problems into smaller, named, reusable steps — like a recipe!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657600" cy="3200400"/>
          </a:xfrm>
          <a:prstGeom prst="rect">
            <a:avLst/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🍝  make_pasta():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make_dough()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shape_pasta()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3383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cook_pasta()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43400" y="1417320"/>
            <a:ext cx="4389120" cy="3200400"/>
          </a:xfrm>
          <a:prstGeom prst="rect">
            <a:avLst/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dirty="0"/>
              <a:t>   </a:t>
            </a:r>
          </a:p>
        </p:txBody>
      </p:sp>
      <p:sp>
        <p:nvSpPr>
          <p:cNvPr id="11" name="Text 9"/>
          <p:cNvSpPr/>
          <p:nvPr/>
        </p:nvSpPr>
        <p:spPr>
          <a:xfrm>
            <a:off x="4480560" y="1508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Syntax: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2103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function_name():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0" y="24505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code goes here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27980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31455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turn_right():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0560" y="34930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turn_left()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0" y="38404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turn_left()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0560" y="41879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turn_left()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Control Flow Overview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083732"/>
            <a:ext cx="2697480" cy="3579707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974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for-loop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Definite Loop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Repeats a block a specific number of times.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2514600" cy="1737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761488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turn_right():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range(3):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turn_left()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73552" y="100584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73552" y="1005840"/>
            <a:ext cx="269748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64992" y="10241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while-loop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5727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Indefinite Loop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64992" y="199339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Keeps repeating until the condition is false.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64992" y="2697480"/>
            <a:ext cx="2514600" cy="1737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10712" y="2761488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move_to_wall():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front_is_clear():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move()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81344" y="100584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81344" y="1005840"/>
            <a:ext cx="2697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72784" y="10241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if-statement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72784" y="15727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72784" y="199339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Runs a block only when condition is true.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72784" y="2697480"/>
            <a:ext cx="2514600" cy="1737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18504" y="2761488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safe_move():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front_is_clear():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move()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2588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CONCEPT CHECK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loop would you use when you DON'T know how many times to repeat?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4069080" cy="777240"/>
          </a:xfrm>
          <a:prstGeom prst="rect">
            <a:avLst/>
          </a:prstGeom>
          <a:solidFill>
            <a:srgbClr val="3A6186"/>
          </a:solidFill>
          <a:ln w="12700">
            <a:solidFill>
              <a:srgbClr val="4A6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66928" cy="566928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61518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for-loop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98094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Definite — we know the count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4069080" cy="777240"/>
          </a:xfrm>
          <a:prstGeom prst="rect">
            <a:avLst/>
          </a:prstGeom>
          <a:solidFill>
            <a:srgbClr val="028090"/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66928" cy="5669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62102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while-loop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9867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Indefinite — runs until false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560320"/>
            <a:ext cx="4069080" cy="777240"/>
          </a:xfrm>
          <a:prstGeom prst="rect">
            <a:avLst/>
          </a:prstGeom>
          <a:solidFill>
            <a:srgbClr val="3A6186"/>
          </a:solidFill>
          <a:ln w="12700">
            <a:solidFill>
              <a:srgbClr val="4A6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2651760"/>
            <a:ext cx="566928" cy="566928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623560" y="261518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if-statement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23560" y="298094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loop — it's a condition check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3566160"/>
            <a:ext cx="4069080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4A6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937760" y="3657600"/>
            <a:ext cx="566928" cy="566928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3657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623560" y="362102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sure yet!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23560" y="39867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okay — let's find out!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Use Zoom Reactions to vote!   👍 = A   ❤️ = B   🎉 = C   🤔 = 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25880"/>
            <a:ext cx="9144000" cy="73152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Answer: B — while-loop!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029200" cy="3200400"/>
          </a:xfrm>
          <a:prstGeom prst="rect">
            <a:avLst/>
          </a:prstGeom>
          <a:solidFill>
            <a:srgbClr val="21295C"/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6642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while-loop?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212848"/>
            <a:ext cx="4800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for-loop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know the count.
</a:t>
            </a: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while-loop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keep going until something changes.
</a:t>
            </a: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Karel example:
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know how long the row is — so we use while front_is_clear()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1554480"/>
            <a:ext cx="3017520" cy="32004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897880" y="16642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🧹  Real World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97880" y="2212848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Sweeping a floor: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sweeping until the floor is clean"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sweep exactly 10 times!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 before we dive into Hospital Karel? 🏥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A10F6-34EC-CE66-9CA4-457CD61CD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E6D7FC1-281C-49DC-6823-5BD1EEFE5555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E6E13E6-1813-7777-DEF7-BA0491C60077}"/>
              </a:ext>
            </a:extLst>
          </p:cNvPr>
          <p:cNvSpPr/>
          <p:nvPr/>
        </p:nvSpPr>
        <p:spPr>
          <a:xfrm>
            <a:off x="365760" y="104349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600" dirty="0"/>
          </a:p>
        </p:txBody>
      </p:sp>
      <p:pic>
        <p:nvPicPr>
          <p:cNvPr id="4" name="Google Shape;661;p49">
            <a:extLst>
              <a:ext uri="{FF2B5EF4-FFF2-40B4-BE49-F238E27FC236}">
                <a16:creationId xmlns:a16="http://schemas.microsoft.com/office/drawing/2014/main" id="{C4710EBF-9C9F-6369-ACEE-9E50C18D2D6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153" y="1357925"/>
            <a:ext cx="8583700" cy="33538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62;p49">
            <a:extLst>
              <a:ext uri="{FF2B5EF4-FFF2-40B4-BE49-F238E27FC236}">
                <a16:creationId xmlns:a16="http://schemas.microsoft.com/office/drawing/2014/main" id="{BF12C9AD-0829-C83F-EE77-39D0CA9DFEC1}"/>
              </a:ext>
            </a:extLst>
          </p:cNvPr>
          <p:cNvSpPr txBox="1"/>
          <p:nvPr/>
        </p:nvSpPr>
        <p:spPr>
          <a:xfrm>
            <a:off x="143928" y="423375"/>
            <a:ext cx="889035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chemeClr val="bg1"/>
                </a:solidFill>
                <a:latin typeface="Didact Gothic"/>
                <a:ea typeface="Didact Gothic"/>
                <a:cs typeface="Didact Gothic"/>
                <a:sym typeface="Didact Gothic"/>
              </a:rPr>
              <a:t>Each beeper in the figure represents a pile of supplies. </a:t>
            </a:r>
            <a:endParaRPr sz="2800" b="1" dirty="0">
              <a:solidFill>
                <a:schemeClr val="bg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cxnSp>
        <p:nvCxnSpPr>
          <p:cNvPr id="6" name="Google Shape;663;p49">
            <a:extLst>
              <a:ext uri="{FF2B5EF4-FFF2-40B4-BE49-F238E27FC236}">
                <a16:creationId xmlns:a16="http://schemas.microsoft.com/office/drawing/2014/main" id="{57CBC2F0-5ED3-AE06-7409-BB89D0060348}"/>
              </a:ext>
            </a:extLst>
          </p:cNvPr>
          <p:cNvCxnSpPr/>
          <p:nvPr/>
        </p:nvCxnSpPr>
        <p:spPr>
          <a:xfrm flipH="1">
            <a:off x="1739975" y="3456650"/>
            <a:ext cx="11400" cy="7020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" name="Google Shape;664;p49">
            <a:extLst>
              <a:ext uri="{FF2B5EF4-FFF2-40B4-BE49-F238E27FC236}">
                <a16:creationId xmlns:a16="http://schemas.microsoft.com/office/drawing/2014/main" id="{02FDF055-61C3-E779-6A5E-14C27B28BCD2}"/>
              </a:ext>
            </a:extLst>
          </p:cNvPr>
          <p:cNvCxnSpPr/>
          <p:nvPr/>
        </p:nvCxnSpPr>
        <p:spPr>
          <a:xfrm flipH="1">
            <a:off x="5172350" y="3456650"/>
            <a:ext cx="11400" cy="7020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" name="Google Shape;665;p49">
            <a:extLst>
              <a:ext uri="{FF2B5EF4-FFF2-40B4-BE49-F238E27FC236}">
                <a16:creationId xmlns:a16="http://schemas.microsoft.com/office/drawing/2014/main" id="{C2F71020-64FE-3997-AB34-6CB4BC827608}"/>
              </a:ext>
            </a:extLst>
          </p:cNvPr>
          <p:cNvCxnSpPr/>
          <p:nvPr/>
        </p:nvCxnSpPr>
        <p:spPr>
          <a:xfrm flipH="1">
            <a:off x="8020950" y="3456650"/>
            <a:ext cx="11400" cy="7020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498949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5D5DF-2D60-870C-4200-D25A14C36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670;p50">
            <a:extLst>
              <a:ext uri="{FF2B5EF4-FFF2-40B4-BE49-F238E27FC236}">
                <a16:creationId xmlns:a16="http://schemas.microsoft.com/office/drawing/2014/main" id="{C5DD6513-7BE3-93A3-6B8A-DB65B2E97EF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975" y="1727200"/>
            <a:ext cx="7855575" cy="30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671;p50">
            <a:extLst>
              <a:ext uri="{FF2B5EF4-FFF2-40B4-BE49-F238E27FC236}">
                <a16:creationId xmlns:a16="http://schemas.microsoft.com/office/drawing/2014/main" id="{4E91F1CA-0074-3448-8F91-DC38ED89DB38}"/>
              </a:ext>
            </a:extLst>
          </p:cNvPr>
          <p:cNvSpPr txBox="1"/>
          <p:nvPr/>
        </p:nvSpPr>
        <p:spPr>
          <a:xfrm>
            <a:off x="535650" y="451550"/>
            <a:ext cx="799590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chemeClr val="bg1"/>
                </a:solidFill>
                <a:latin typeface="Didact Gothic"/>
                <a:ea typeface="Didact Gothic"/>
                <a:cs typeface="Didact Gothic"/>
                <a:sym typeface="Didact Gothic"/>
              </a:rPr>
              <a:t>Karel’s job is to walk along the row and build a new hospital in the places marked by each beeper.</a:t>
            </a:r>
            <a:endParaRPr sz="2800" b="1" dirty="0">
              <a:solidFill>
                <a:schemeClr val="bg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cxnSp>
        <p:nvCxnSpPr>
          <p:cNvPr id="11" name="Google Shape;672;p50">
            <a:extLst>
              <a:ext uri="{FF2B5EF4-FFF2-40B4-BE49-F238E27FC236}">
                <a16:creationId xmlns:a16="http://schemas.microsoft.com/office/drawing/2014/main" id="{07D98B0D-D387-5F69-A88B-9293B9CFC5D9}"/>
              </a:ext>
            </a:extLst>
          </p:cNvPr>
          <p:cNvCxnSpPr/>
          <p:nvPr/>
        </p:nvCxnSpPr>
        <p:spPr>
          <a:xfrm>
            <a:off x="1271139" y="4522731"/>
            <a:ext cx="7035900" cy="13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200496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AF2FC-2A16-119E-42BF-ADFC82670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677;p51">
            <a:extLst>
              <a:ext uri="{FF2B5EF4-FFF2-40B4-BE49-F238E27FC236}">
                <a16:creationId xmlns:a16="http://schemas.microsoft.com/office/drawing/2014/main" id="{992A3F3D-B1DC-5F94-AD66-2731454D7C3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050" y="1684867"/>
            <a:ext cx="7995900" cy="302930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78;p51">
            <a:extLst>
              <a:ext uri="{FF2B5EF4-FFF2-40B4-BE49-F238E27FC236}">
                <a16:creationId xmlns:a16="http://schemas.microsoft.com/office/drawing/2014/main" id="{58156029-7187-786D-065A-02B7A4135DC9}"/>
              </a:ext>
            </a:extLst>
          </p:cNvPr>
          <p:cNvSpPr txBox="1"/>
          <p:nvPr/>
        </p:nvSpPr>
        <p:spPr>
          <a:xfrm>
            <a:off x="574050" y="429325"/>
            <a:ext cx="799590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chemeClr val="bg1"/>
                </a:solidFill>
                <a:latin typeface="Didact Gothic"/>
                <a:ea typeface="Didact Gothic"/>
                <a:cs typeface="Didact Gothic"/>
                <a:sym typeface="Didact Gothic"/>
              </a:rPr>
              <a:t>Karel’s job is to walk along the row and build a new hospital in the places marked by each beeper.</a:t>
            </a:r>
            <a:endParaRPr sz="2800" b="1" dirty="0">
              <a:solidFill>
                <a:schemeClr val="bg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4" name="Google Shape;679;p51">
            <a:extLst>
              <a:ext uri="{FF2B5EF4-FFF2-40B4-BE49-F238E27FC236}">
                <a16:creationId xmlns:a16="http://schemas.microsoft.com/office/drawing/2014/main" id="{0CEACFFC-073C-60CD-0C0A-C6C1D251A22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3950" y="3319050"/>
            <a:ext cx="1391400" cy="1339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680;p51">
            <a:extLst>
              <a:ext uri="{FF2B5EF4-FFF2-40B4-BE49-F238E27FC236}">
                <a16:creationId xmlns:a16="http://schemas.microsoft.com/office/drawing/2014/main" id="{6281C180-98D7-4F60-4087-27FC742E9FD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4575" y="3319018"/>
            <a:ext cx="1391400" cy="1339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681;p51">
            <a:extLst>
              <a:ext uri="{FF2B5EF4-FFF2-40B4-BE49-F238E27FC236}">
                <a16:creationId xmlns:a16="http://schemas.microsoft.com/office/drawing/2014/main" id="{9B8CF2BE-6B8D-52FC-6CBB-CF8BFEC90D7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7625" y="3319026"/>
            <a:ext cx="1391400" cy="1339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8143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828F1-B23A-EF7C-4EFF-7DDCEB951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4350" y="514350"/>
            <a:ext cx="8115300" cy="411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7" name="Google Shape;686;p52">
            <a:extLst>
              <a:ext uri="{FF2B5EF4-FFF2-40B4-BE49-F238E27FC236}">
                <a16:creationId xmlns:a16="http://schemas.microsoft.com/office/drawing/2014/main" id="{FC0EC191-24AA-3CFE-4EDC-6F45394909C7}"/>
              </a:ext>
            </a:extLst>
          </p:cNvPr>
          <p:cNvSpPr txBox="1"/>
          <p:nvPr/>
        </p:nvSpPr>
        <p:spPr>
          <a:xfrm>
            <a:off x="1104456" y="1035423"/>
            <a:ext cx="3421026" cy="1759671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  <a:sym typeface="Didact Gothic"/>
              </a:rPr>
              <a:t>Hospitals look like this: a 3x2 rectangle of beepers!</a:t>
            </a:r>
          </a:p>
        </p:txBody>
      </p:sp>
      <p:pic>
        <p:nvPicPr>
          <p:cNvPr id="8" name="Google Shape;687;p52">
            <a:extLst>
              <a:ext uri="{FF2B5EF4-FFF2-40B4-BE49-F238E27FC236}">
                <a16:creationId xmlns:a16="http://schemas.microsoft.com/office/drawing/2014/main" id="{C7970837-EF81-1B1A-3E0F-59B741FC8CCB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629544" y="1035423"/>
            <a:ext cx="1971136" cy="307265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49332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96D9F-D2A2-1057-192C-E16B5370A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700;p54">
            <a:extLst>
              <a:ext uri="{FF2B5EF4-FFF2-40B4-BE49-F238E27FC236}">
                <a16:creationId xmlns:a16="http://schemas.microsoft.com/office/drawing/2014/main" id="{DA3ABE24-BDCB-1186-D182-173ABC7FCEC4}"/>
              </a:ext>
            </a:extLst>
          </p:cNvPr>
          <p:cNvSpPr txBox="1"/>
          <p:nvPr/>
        </p:nvSpPr>
        <p:spPr>
          <a:xfrm>
            <a:off x="276900" y="293400"/>
            <a:ext cx="8590200" cy="124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bg1"/>
                </a:solidFill>
                <a:latin typeface="Didact Gothic"/>
                <a:ea typeface="Didact Gothic"/>
                <a:cs typeface="Didact Gothic"/>
                <a:sym typeface="Didact Gothic"/>
              </a:rPr>
              <a:t>At the end of the run, Karel should be at the end of the row having created a set of hospitals. For the initial conditions shown, the result would look like this:</a:t>
            </a:r>
            <a:endParaRPr sz="2000" b="1" dirty="0">
              <a:solidFill>
                <a:schemeClr val="bg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bg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11" name="Google Shape;701;p54">
            <a:extLst>
              <a:ext uri="{FF2B5EF4-FFF2-40B4-BE49-F238E27FC236}">
                <a16:creationId xmlns:a16="http://schemas.microsoft.com/office/drawing/2014/main" id="{567884B8-885A-B9A1-4D8A-280A857389B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0400" y="3139345"/>
            <a:ext cx="4153751" cy="169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702;p54">
            <a:extLst>
              <a:ext uri="{FF2B5EF4-FFF2-40B4-BE49-F238E27FC236}">
                <a16:creationId xmlns:a16="http://schemas.microsoft.com/office/drawing/2014/main" id="{AFC464D7-7C50-5CA2-03B2-35A29A69252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0400" y="1236987"/>
            <a:ext cx="4153749" cy="16921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Google Shape;703;p54">
            <a:extLst>
              <a:ext uri="{FF2B5EF4-FFF2-40B4-BE49-F238E27FC236}">
                <a16:creationId xmlns:a16="http://schemas.microsoft.com/office/drawing/2014/main" id="{0F9A2878-D929-1303-656A-7FF6609293FC}"/>
              </a:ext>
            </a:extLst>
          </p:cNvPr>
          <p:cNvCxnSpPr>
            <a:stCxn id="12" idx="2"/>
            <a:endCxn id="11" idx="0"/>
          </p:cNvCxnSpPr>
          <p:nvPr/>
        </p:nvCxnSpPr>
        <p:spPr>
          <a:xfrm>
            <a:off x="4527275" y="2929107"/>
            <a:ext cx="1" cy="210238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054136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D1D8B-1A77-1FB7-61FC-DB7B72C09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08;p55">
            <a:extLst>
              <a:ext uri="{FF2B5EF4-FFF2-40B4-BE49-F238E27FC236}">
                <a16:creationId xmlns:a16="http://schemas.microsoft.com/office/drawing/2014/main" id="{C41F7408-57BF-20F8-AA6F-AD5C98F0EFA7}"/>
              </a:ext>
            </a:extLst>
          </p:cNvPr>
          <p:cNvSpPr txBox="1">
            <a:spLocks/>
          </p:cNvSpPr>
          <p:nvPr/>
        </p:nvSpPr>
        <p:spPr>
          <a:xfrm>
            <a:off x="720000" y="337902"/>
            <a:ext cx="7704000" cy="5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</a:rPr>
              <a:t>Notes to Keep in Mind</a:t>
            </a:r>
          </a:p>
        </p:txBody>
      </p:sp>
      <p:sp>
        <p:nvSpPr>
          <p:cNvPr id="4" name="Google Shape;710;p55">
            <a:extLst>
              <a:ext uri="{FF2B5EF4-FFF2-40B4-BE49-F238E27FC236}">
                <a16:creationId xmlns:a16="http://schemas.microsoft.com/office/drawing/2014/main" id="{43F0C702-9016-A523-8427-CC7D5EAEED7E}"/>
              </a:ext>
            </a:extLst>
          </p:cNvPr>
          <p:cNvSpPr txBox="1"/>
          <p:nvPr/>
        </p:nvSpPr>
        <p:spPr>
          <a:xfrm>
            <a:off x="1852875" y="184640"/>
            <a:ext cx="797192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chemeClr val="bg1"/>
                </a:solidFill>
              </a:rPr>
              <a:t>🗒️</a:t>
            </a:r>
            <a:endParaRPr sz="4400" dirty="0">
              <a:solidFill>
                <a:schemeClr val="bg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5" name="Google Shape;711;p55">
            <a:extLst>
              <a:ext uri="{FF2B5EF4-FFF2-40B4-BE49-F238E27FC236}">
                <a16:creationId xmlns:a16="http://schemas.microsoft.com/office/drawing/2014/main" id="{861D4B77-1B3A-24D4-2A43-6BCAC4669FDD}"/>
              </a:ext>
            </a:extLst>
          </p:cNvPr>
          <p:cNvSpPr txBox="1"/>
          <p:nvPr/>
        </p:nvSpPr>
        <p:spPr>
          <a:xfrm>
            <a:off x="6493935" y="52300"/>
            <a:ext cx="1144500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chemeClr val="bg1"/>
                </a:solidFill>
              </a:rPr>
              <a:t>✏️</a:t>
            </a:r>
            <a:endParaRPr sz="4400" dirty="0">
              <a:solidFill>
                <a:schemeClr val="bg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6" name="Google Shape;661;p49">
            <a:extLst>
              <a:ext uri="{FF2B5EF4-FFF2-40B4-BE49-F238E27FC236}">
                <a16:creationId xmlns:a16="http://schemas.microsoft.com/office/drawing/2014/main" id="{A133ED45-80E0-F112-D3C1-503C5909E65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86" y="2748358"/>
            <a:ext cx="7720847" cy="223945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6F8AB6C-271D-D7F1-D422-68733D884E74}"/>
                  </a:ext>
                </a:extLst>
              </p14:cNvPr>
              <p14:cNvContentPartPr/>
              <p14:nvPr/>
            </p14:nvContentPartPr>
            <p14:xfrm>
              <a:off x="710920" y="4631067"/>
              <a:ext cx="440280" cy="7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6F8AB6C-271D-D7F1-D422-68733D884E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4805" y="4618827"/>
                <a:ext cx="45251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45C0BC2-3348-93B2-276E-E281CEBB1D6E}"/>
                  </a:ext>
                </a:extLst>
              </p14:cNvPr>
              <p14:cNvContentPartPr/>
              <p14:nvPr/>
            </p14:nvContentPartPr>
            <p14:xfrm>
              <a:off x="719560" y="4622787"/>
              <a:ext cx="720" cy="2880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45C0BC2-3348-93B2-276E-E281CEBB1D6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7320" y="4616675"/>
                <a:ext cx="25200" cy="3002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905657A-7F5D-C8B9-DBCD-6A8CB3675D8C}"/>
                  </a:ext>
                </a:extLst>
              </p14:cNvPr>
              <p14:cNvContentPartPr/>
              <p14:nvPr/>
            </p14:nvContentPartPr>
            <p14:xfrm>
              <a:off x="1176400" y="4631067"/>
              <a:ext cx="360" cy="3139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905657A-7F5D-C8B9-DBCD-6A8CB3675D8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70280" y="4624947"/>
                <a:ext cx="1260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405CD7D-AF05-EFE1-F93A-88AF0927614D}"/>
                  </a:ext>
                </a:extLst>
              </p14:cNvPr>
              <p14:cNvContentPartPr/>
              <p14:nvPr/>
            </p14:nvContentPartPr>
            <p14:xfrm>
              <a:off x="1693000" y="4631067"/>
              <a:ext cx="3981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405CD7D-AF05-EFE1-F93A-88AF0927614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86880" y="4624947"/>
                <a:ext cx="4104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E047BF6-303C-9317-F9C2-5E831B739826}"/>
                  </a:ext>
                </a:extLst>
              </p14:cNvPr>
              <p14:cNvContentPartPr/>
              <p14:nvPr/>
            </p14:nvContentPartPr>
            <p14:xfrm>
              <a:off x="1693000" y="4690467"/>
              <a:ext cx="25920" cy="2624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E047BF6-303C-9317-F9C2-5E831B73982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86880" y="4684347"/>
                <a:ext cx="38160" cy="27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F33FD10C-F7BC-C6B8-7735-4D7922D8100A}"/>
              </a:ext>
            </a:extLst>
          </p:cNvPr>
          <p:cNvGrpSpPr/>
          <p:nvPr/>
        </p:nvGrpSpPr>
        <p:grpSpPr>
          <a:xfrm>
            <a:off x="2108080" y="4644747"/>
            <a:ext cx="39240" cy="296280"/>
            <a:chOff x="2108080" y="4644747"/>
            <a:chExt cx="39240" cy="29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1CBEF6B-5172-6A33-2A99-F7E878B07415}"/>
                    </a:ext>
                  </a:extLst>
                </p14:cNvPr>
                <p14:cNvContentPartPr/>
                <p14:nvPr/>
              </p14:nvContentPartPr>
              <p14:xfrm>
                <a:off x="2133280" y="4690467"/>
                <a:ext cx="10800" cy="250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1CBEF6B-5172-6A33-2A99-F7E878B0741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27357" y="4684338"/>
                  <a:ext cx="22645" cy="2628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D09BCFE-8A5A-4562-E17A-F4CFFC29568F}"/>
                    </a:ext>
                  </a:extLst>
                </p14:cNvPr>
                <p14:cNvContentPartPr/>
                <p14:nvPr/>
              </p14:nvContentPartPr>
              <p14:xfrm>
                <a:off x="2108080" y="4644747"/>
                <a:ext cx="39240" cy="68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D09BCFE-8A5A-4562-E17A-F4CFFC29568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01960" y="4638627"/>
                  <a:ext cx="51480" cy="8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CB59E88-76B4-8911-ADDC-12B412A3A0D4}"/>
                  </a:ext>
                </a:extLst>
              </p14:cNvPr>
              <p14:cNvContentPartPr/>
              <p14:nvPr/>
            </p14:nvContentPartPr>
            <p14:xfrm>
              <a:off x="1702720" y="4622787"/>
              <a:ext cx="50040" cy="1213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CB59E88-76B4-8911-ADDC-12B412A3A0D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96600" y="4616649"/>
                <a:ext cx="62280" cy="1335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D025D12-05F5-5D20-9A75-8D8DF74EC9EB}"/>
                  </a:ext>
                </a:extLst>
              </p14:cNvPr>
              <p14:cNvContentPartPr/>
              <p14:nvPr/>
            </p14:nvContentPartPr>
            <p14:xfrm>
              <a:off x="8017480" y="3039147"/>
              <a:ext cx="720" cy="18637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D025D12-05F5-5D20-9A75-8D8DF74EC9E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005240" y="3033027"/>
                <a:ext cx="25200" cy="18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42E6DFF-2D03-DDD3-FA59-966D614D3A32}"/>
                  </a:ext>
                </a:extLst>
              </p14:cNvPr>
              <p14:cNvContentPartPr/>
              <p14:nvPr/>
            </p14:nvContentPartPr>
            <p14:xfrm>
              <a:off x="8017480" y="2923227"/>
              <a:ext cx="7200" cy="1504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42E6DFF-2D03-DDD3-FA59-966D614D3A3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011360" y="2917122"/>
                <a:ext cx="19440" cy="1626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79FE66E-BB36-3C91-50DF-9CEA4C407D01}"/>
                  </a:ext>
                </a:extLst>
              </p14:cNvPr>
              <p14:cNvContentPartPr/>
              <p14:nvPr/>
            </p14:nvContentPartPr>
            <p14:xfrm>
              <a:off x="8221240" y="2903787"/>
              <a:ext cx="720" cy="20160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79FE66E-BB36-3C91-50DF-9CEA4C407D0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209000" y="2897667"/>
                <a:ext cx="25200" cy="20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649F688-9B22-6EBF-A1AD-E2CC594F299A}"/>
                  </a:ext>
                </a:extLst>
              </p14:cNvPr>
              <p14:cNvContentPartPr/>
              <p14:nvPr/>
            </p14:nvContentPartPr>
            <p14:xfrm>
              <a:off x="8009560" y="2920347"/>
              <a:ext cx="247320" cy="97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649F688-9B22-6EBF-A1AD-E2CC594F299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003440" y="2914227"/>
                <a:ext cx="25956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24C082F-42FE-000D-3B1B-655D61DC53A2}"/>
                  </a:ext>
                </a:extLst>
              </p14:cNvPr>
              <p14:cNvContentPartPr/>
              <p14:nvPr/>
            </p14:nvContentPartPr>
            <p14:xfrm>
              <a:off x="363880" y="3674187"/>
              <a:ext cx="271080" cy="4071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24C082F-42FE-000D-3B1B-655D61DC53A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54880" y="3665179"/>
                <a:ext cx="288720" cy="4248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2BAC67A-966B-A446-66A1-3424A04063D9}"/>
                  </a:ext>
                </a:extLst>
              </p14:cNvPr>
              <p14:cNvContentPartPr/>
              <p14:nvPr/>
            </p14:nvContentPartPr>
            <p14:xfrm>
              <a:off x="84520" y="4713507"/>
              <a:ext cx="145800" cy="2228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2BAC67A-966B-A446-66A1-3424A04063D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5542" y="4704507"/>
                <a:ext cx="163397" cy="24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A7098FC0-0C0A-3E34-EEDF-17F7856C5BDD}"/>
              </a:ext>
            </a:extLst>
          </p:cNvPr>
          <p:cNvGrpSpPr/>
          <p:nvPr/>
        </p:nvGrpSpPr>
        <p:grpSpPr>
          <a:xfrm>
            <a:off x="110080" y="4343067"/>
            <a:ext cx="254160" cy="309960"/>
            <a:chOff x="110080" y="4343067"/>
            <a:chExt cx="254160" cy="30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4548A14-6F23-CDD6-6D8F-6743EDBF1BDA}"/>
                    </a:ext>
                  </a:extLst>
                </p14:cNvPr>
                <p14:cNvContentPartPr/>
                <p14:nvPr/>
              </p14:nvContentPartPr>
              <p14:xfrm>
                <a:off x="186040" y="4462227"/>
                <a:ext cx="74160" cy="190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4548A14-6F23-CDD6-6D8F-6743EDBF1BD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77040" y="4453244"/>
                  <a:ext cx="91800" cy="2084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56B151B-9AA1-C00A-0AA8-2A3EFEF68BE8}"/>
                    </a:ext>
                  </a:extLst>
                </p14:cNvPr>
                <p14:cNvContentPartPr/>
                <p14:nvPr/>
              </p14:nvContentPartPr>
              <p14:xfrm>
                <a:off x="110080" y="4419387"/>
                <a:ext cx="196920" cy="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56B151B-9AA1-C00A-0AA8-2A3EFEF68BE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1080" y="4410387"/>
                  <a:ext cx="214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6112886-90DF-1862-23BA-44FC49F79620}"/>
                    </a:ext>
                  </a:extLst>
                </p14:cNvPr>
                <p14:cNvContentPartPr/>
                <p14:nvPr/>
              </p14:nvContentPartPr>
              <p14:xfrm>
                <a:off x="143560" y="4343067"/>
                <a:ext cx="220680" cy="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6112886-90DF-1862-23BA-44FC49F7962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34575" y="4334067"/>
                  <a:ext cx="238291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7728F3D-3881-53F4-7234-FB7117B951FC}"/>
              </a:ext>
            </a:extLst>
          </p:cNvPr>
          <p:cNvGrpSpPr/>
          <p:nvPr/>
        </p:nvGrpSpPr>
        <p:grpSpPr>
          <a:xfrm>
            <a:off x="346960" y="3928347"/>
            <a:ext cx="190080" cy="191520"/>
            <a:chOff x="346960" y="3928347"/>
            <a:chExt cx="190080" cy="19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05594AE-D688-F92D-76CC-FA37D5A25131}"/>
                    </a:ext>
                  </a:extLst>
                </p14:cNvPr>
                <p14:cNvContentPartPr/>
                <p14:nvPr/>
              </p14:nvContentPartPr>
              <p14:xfrm>
                <a:off x="346960" y="3928347"/>
                <a:ext cx="9000" cy="1620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05594AE-D688-F92D-76CC-FA37D5A2513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37585" y="3919367"/>
                  <a:ext cx="27375" cy="1796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1226595-302C-FF25-92A1-A6F2ECEE8D21}"/>
                    </a:ext>
                  </a:extLst>
                </p14:cNvPr>
                <p14:cNvContentPartPr/>
                <p14:nvPr/>
              </p14:nvContentPartPr>
              <p14:xfrm>
                <a:off x="372520" y="4053267"/>
                <a:ext cx="164520" cy="61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1226595-302C-FF25-92A1-A6F2ECEE8D2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63520" y="4044267"/>
                  <a:ext cx="1821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E3A847F-1339-490A-DBF6-2A9F5B85A63A}"/>
                    </a:ext>
                  </a:extLst>
                </p14:cNvPr>
                <p14:cNvContentPartPr/>
                <p14:nvPr/>
              </p14:nvContentPartPr>
              <p14:xfrm>
                <a:off x="349840" y="4080987"/>
                <a:ext cx="48600" cy="38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E3A847F-1339-490A-DBF6-2A9F5B85A63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40840" y="4072070"/>
                  <a:ext cx="66240" cy="56358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53" name="Google Shape;709;p55">
            <a:extLst>
              <a:ext uri="{FF2B5EF4-FFF2-40B4-BE49-F238E27FC236}">
                <a16:creationId xmlns:a16="http://schemas.microsoft.com/office/drawing/2014/main" id="{CDFD1D88-A4B1-B715-78B7-818984B169E7}"/>
              </a:ext>
            </a:extLst>
          </p:cNvPr>
          <p:cNvGraphicFramePr/>
          <p:nvPr/>
        </p:nvGraphicFramePr>
        <p:xfrm>
          <a:off x="110067" y="1147950"/>
          <a:ext cx="8906933" cy="1600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4" r:lo="rId45" r:qs="rId46" r:cs="rId47"/>
          </a:graphicData>
        </a:graphic>
      </p:graphicFrame>
    </p:spTree>
    <p:extLst>
      <p:ext uri="{BB962C8B-B14F-4D97-AF65-F5344CB8AC3E}">
        <p14:creationId xmlns:p14="http://schemas.microsoft.com/office/powerpoint/2010/main" val="3989445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CFBCB-629F-B785-14C1-1849BCC48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7551" y="2988"/>
            <a:ext cx="7329573" cy="5143500"/>
            <a:chOff x="1303402" y="3985"/>
            <a:chExt cx="9772765" cy="6858000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4C3FBBC-CD46-DAB0-3B66-E4D15CEEF71E}"/>
              </a:ext>
            </a:extLst>
          </p:cNvPr>
          <p:cNvSpPr txBox="1"/>
          <p:nvPr/>
        </p:nvSpPr>
        <p:spPr>
          <a:xfrm>
            <a:off x="2411796" y="1323305"/>
            <a:ext cx="4320635" cy="17327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Questions Before We begin?</a:t>
            </a:r>
          </a:p>
        </p:txBody>
      </p:sp>
    </p:spTree>
    <p:extLst>
      <p:ext uri="{BB962C8B-B14F-4D97-AF65-F5344CB8AC3E}">
        <p14:creationId xmlns:p14="http://schemas.microsoft.com/office/powerpoint/2010/main" val="2999889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AD7F9-3296-A2E2-8E90-B6FCAF45B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390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6B5D1A-A457-F680-66D2-07C815132CAC}"/>
              </a:ext>
            </a:extLst>
          </p:cNvPr>
          <p:cNvSpPr txBox="1"/>
          <p:nvPr/>
        </p:nvSpPr>
        <p:spPr>
          <a:xfrm>
            <a:off x="4942996" y="3200874"/>
            <a:ext cx="3604497" cy="9728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Let’s begin</a:t>
            </a:r>
          </a:p>
        </p:txBody>
      </p:sp>
      <p:pic>
        <p:nvPicPr>
          <p:cNvPr id="17" name="Graphic 16" descr="Run">
            <a:extLst>
              <a:ext uri="{FF2B5EF4-FFF2-40B4-BE49-F238E27FC236}">
                <a16:creationId xmlns:a16="http://schemas.microsoft.com/office/drawing/2014/main" id="{3F5DF590-0127-E5CB-4DD5-BF4AB27AA5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1361489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4482"/>
            <a:ext cx="4679005" cy="5147982"/>
            <a:chOff x="305" y="-5977"/>
            <a:chExt cx="6238675" cy="6863979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9424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747</Words>
  <Application>Microsoft Office PowerPoint</Application>
  <PresentationFormat>On-screen Show (16:9)</PresentationFormat>
  <Paragraphs>139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Consolas</vt:lpstr>
      <vt:lpstr>Didact Gothic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in Place – Week 1 Section</dc:title>
  <dc:subject>PptxGenJS Presentation</dc:subject>
  <dc:creator>Section Leader</dc:creator>
  <cp:lastModifiedBy>21SW053</cp:lastModifiedBy>
  <cp:revision>4</cp:revision>
  <dcterms:created xsi:type="dcterms:W3CDTF">2026-04-21T13:38:35Z</dcterms:created>
  <dcterms:modified xsi:type="dcterms:W3CDTF">2026-04-23T09:40:26Z</dcterms:modified>
</cp:coreProperties>
</file>